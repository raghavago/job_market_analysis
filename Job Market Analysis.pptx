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81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250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2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28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6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4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7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913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706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0630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6144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337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757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41515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272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6255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998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3460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095458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74345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44766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63832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5039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533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01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92709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151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828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06463"/>
            <a:ext cx="2238375" cy="27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99086"/>
            <a:ext cx="5162550" cy="552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25563"/>
            <a:ext cx="11001375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1" i="0" u="none">
                <a:solidFill>
                  <a:srgbClr val="50005C"/>
                </a:solidFill>
                <a:latin typeface="Poppins"/>
              </a:rPr>
              <a:t>Job Market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03636"/>
            <a:ext cx="1047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5D4368"/>
                </a:solidFill>
                <a:latin typeface="Lato"/>
              </a:rPr>
              <a:t>Analyzing Job Demand, Salary Trends, Education Requirements, and In-Demand Skills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5209" y="3618011"/>
            <a:ext cx="3048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8715" y="3960911"/>
            <a:ext cx="229778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50005C"/>
                </a:solidFill>
                <a:latin typeface="Poppins"/>
              </a:rPr>
              <a:t>Data Trends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9353" y="3618011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33809" y="3960911"/>
            <a:ext cx="229778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50005C"/>
                </a:solidFill>
                <a:latin typeface="Poppins"/>
              </a:rPr>
              <a:t>Job Demand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446" y="3618011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88903" y="3960911"/>
            <a:ext cx="229778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50005C"/>
                </a:solidFill>
                <a:latin typeface="Poppins"/>
              </a:rPr>
              <a:t>Salary Insights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9540" y="3618011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43997" y="3960911"/>
            <a:ext cx="229778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50005C"/>
                </a:solidFill>
                <a:latin typeface="Poppins"/>
              </a:rPr>
              <a:t>In-Demand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85875"/>
            <a:ext cx="5334000" cy="3271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85875"/>
            <a:ext cx="5334000" cy="3271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971675"/>
            <a:ext cx="2343150" cy="714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0" y="1971675"/>
            <a:ext cx="2343150" cy="714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1514475"/>
            <a:ext cx="507063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0005C"/>
                </a:solidFill>
                <a:latin typeface="Poppins SemiBold"/>
              </a:rP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1514475"/>
            <a:ext cx="5120640" cy="314325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Poppins SemiBold"/>
              </a:rPr>
              <a:t>Dataset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828925"/>
            <a:ext cx="4876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FFFFFF"/>
                </a:solidFill>
                <a:latin typeface="Lato"/>
              </a:rPr>
              <a:t>Primary attributes captured in dataset: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156210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4425" y="1943100"/>
            <a:ext cx="4562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Analyze Data Science job-market demand and distribution.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2300287"/>
            <a:ext cx="4562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Identify geographical locations with maximum career opportunities.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2900362"/>
            <a:ext cx="4562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Pinpoint high-demand industries and top hiring companies.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3257550"/>
            <a:ext cx="4562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Compare compensation levels across states and job titles.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3614737"/>
            <a:ext cx="4562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Evaluate salary variance against candidate education levels.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3971925"/>
            <a:ext cx="4562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6213E"/>
                </a:solidFill>
                <a:latin typeface="Lato"/>
              </a:rPr>
              <a:t>Extract skill profiles required for various data roles.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1562100"/>
            <a:ext cx="18097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3143250"/>
            <a:ext cx="752475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3775" y="3143250"/>
            <a:ext cx="790575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0550" y="3143250"/>
            <a:ext cx="74295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700" y="3143250"/>
            <a:ext cx="72390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29800" y="3143250"/>
            <a:ext cx="619125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25125" y="3143250"/>
            <a:ext cx="638175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5100" y="3486150"/>
            <a:ext cx="809625" cy="2667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0925" y="3486150"/>
            <a:ext cx="771525" cy="2667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48650" y="3486150"/>
            <a:ext cx="571500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0005C"/>
                </a:solidFill>
                <a:latin typeface="Poppins"/>
              </a:rPr>
              <a:t>Project Objective &amp; Dataset Overview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1952625"/>
            <a:ext cx="142875" cy="1619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2309812"/>
            <a:ext cx="142875" cy="1619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2909887"/>
            <a:ext cx="142875" cy="1619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3267075"/>
            <a:ext cx="142875" cy="1619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3624262"/>
            <a:ext cx="142875" cy="1619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7725" y="3981450"/>
            <a:ext cx="142875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0255"/>
            <a:ext cx="5334000" cy="29765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20255"/>
            <a:ext cx="5334000" cy="29765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85875"/>
            <a:ext cx="2647950" cy="9962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850" y="1285875"/>
            <a:ext cx="2647950" cy="99625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85875"/>
            <a:ext cx="2647950" cy="99625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550" y="1285875"/>
            <a:ext cx="2647950" cy="99625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175" y="142875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525" y="1428750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1875" y="142875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2225" y="142875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725" y="2748855"/>
            <a:ext cx="507063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0005C"/>
                </a:solidFill>
                <a:latin typeface="Poppins SemiBold"/>
              </a:rPr>
              <a:t>Transformation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748855"/>
            <a:ext cx="5070633" cy="314325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50005C"/>
                </a:solidFill>
                <a:latin typeface="Poppins SemiBold"/>
              </a:rPr>
              <a:t>Data Modeling &amp; DAX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" y="1733550"/>
            <a:ext cx="244030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50005C"/>
                </a:solidFill>
                <a:latin typeface="Poppins"/>
              </a:rPr>
              <a:t>Raw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1990725"/>
            <a:ext cx="2324100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36213E"/>
                </a:solidFill>
                <a:latin typeface="Lato"/>
              </a:rPr>
              <a:t>Initial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5672" y="1733550"/>
            <a:ext cx="244030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50005C"/>
                </a:solidFill>
                <a:latin typeface="Poppins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3775" y="1990725"/>
            <a:ext cx="2324100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36213E"/>
                </a:solidFill>
                <a:latin typeface="Lato"/>
              </a:rPr>
              <a:t>Type &amp; Missing (-1)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6022" y="1733550"/>
            <a:ext cx="244030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50005C"/>
                </a:solidFill>
                <a:latin typeface="Poppins"/>
              </a:rPr>
              <a:t>Text &amp; Salary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4125" y="1990725"/>
            <a:ext cx="2324100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36213E"/>
                </a:solidFill>
                <a:latin typeface="Lato"/>
              </a:rPr>
              <a:t>Cleaning &amp; Deduplication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6372" y="1733550"/>
            <a:ext cx="244030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50005C"/>
                </a:solidFill>
                <a:latin typeface="Poppins"/>
              </a:rPr>
              <a:t>Skill Unpivot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475" y="1990725"/>
            <a:ext cx="2324100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36213E"/>
                </a:solidFill>
                <a:latin typeface="Lato"/>
              </a:rPr>
              <a:t>Analysis-Ready Model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" y="2796480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2975" y="317509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6213E"/>
                </a:solidFill>
                <a:latin typeface="La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225" y="3177480"/>
            <a:ext cx="463867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Validated data types across all 42 attributes for modeling accuracy.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75" y="3756124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6213E"/>
                </a:solidFill>
                <a:latin typeface="Lat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225" y="3758505"/>
            <a:ext cx="4638675" cy="2524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Standardized missing value codes (imputed/filtered -1 tags).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975" y="410378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6213E"/>
                </a:solidFill>
                <a:latin typeface="Lato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" y="4106167"/>
            <a:ext cx="463867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Cleaned text fields (removed ratings from company names, parsed states).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975" y="468481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6213E"/>
                </a:solidFill>
                <a:latin typeface="Lato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" y="4687192"/>
            <a:ext cx="463867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Eliminated duplicate job records and verified salary column ranges.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2725" y="2796480"/>
            <a:ext cx="238125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57975" y="317509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6213E"/>
                </a:solidFill>
                <a:latin typeface="Lat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3225" y="3177480"/>
            <a:ext cx="4638675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Unpivoted skill columns into a dedicated skill-granularity table.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7975" y="351323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6213E"/>
                </a:solidFill>
                <a:latin typeface="La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3225" y="3515617"/>
            <a:ext cx="463867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Established a 1-to-Many relationship between main jobs and skill table.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7975" y="409426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6213E"/>
                </a:solidFill>
                <a:latin typeface="La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3225" y="4096642"/>
            <a:ext cx="463867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Developed custom DAX measures for dynamic salary and count metrics.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7975" y="467528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6213E"/>
                </a:solidFill>
                <a:latin typeface="La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3225" y="4677667"/>
            <a:ext cx="4638675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6213E"/>
                </a:solidFill>
                <a:latin typeface="Lato"/>
              </a:rPr>
              <a:t>Structured data model optimized for Power BI visual reporting.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0005C"/>
                </a:solidFill>
                <a:latin typeface="Poppins"/>
              </a:rPr>
              <a:t>Data Preparation Using Power Query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99" y="5619750"/>
            <a:ext cx="11410293" cy="10598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560070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50005C"/>
                </a:solidFill>
                <a:latin typeface="Poppins"/>
              </a:rPr>
              <a:t>Job Market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" y="5800725"/>
            <a:ext cx="5160645" cy="2762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FFFFFF"/>
                </a:solidFill>
                <a:latin typeface="Poppins SemiBold"/>
              </a:rPr>
              <a:t>Strategic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426" y="6003806"/>
            <a:ext cx="10705148" cy="525337"/>
          </a:xfrm>
          <a:prstGeom prst="rect">
            <a:avLst/>
          </a:prstGeom>
          <a:noFill/>
        </p:spPr>
        <p:txBody>
          <a:bodyPr wrap="square" lIns="0" tIns="0" rIns="0" bIns="0" anchor="b" anchorCtr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accent4"/>
                </a:solidFill>
                <a:latin typeface="Lato"/>
              </a:rPr>
              <a:t>Job seekers should strategically target high-demand geographic regions, key growth industries, and top-hiring firms rather than taking a broad, untargeted application approach.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3686175"/>
            <a:ext cx="180975" cy="1809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8DB8BDF-0ECA-A937-C990-671784D3B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2546" y="1045338"/>
            <a:ext cx="9012949" cy="44038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75" y="5857875"/>
            <a:ext cx="11536418" cy="855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560070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0005C"/>
                </a:solidFill>
                <a:latin typeface="Poppins"/>
              </a:rPr>
              <a:t>Salary &amp; Education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" y="6030227"/>
            <a:ext cx="5160645" cy="2762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425" b="0" i="0" u="none" dirty="0">
                <a:solidFill>
                  <a:srgbClr val="FFFFFF"/>
                </a:solidFill>
                <a:latin typeface="Poppins SemiBold"/>
              </a:rPr>
              <a:t>Career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6313185"/>
            <a:ext cx="10776716" cy="191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00" b="1" i="0" u="none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"/>
              </a:rPr>
              <a:t>Career choices should balance compensation potential with job availability, location, skill prerequisites, and long-term career growth opportunities.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3686175"/>
            <a:ext cx="133350" cy="1809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792DCEA-B7C2-FB4A-1018-06D43C4363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098" y="1000124"/>
            <a:ext cx="10059804" cy="47129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9050" y="16668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20" y="5625990"/>
            <a:ext cx="10634663" cy="10066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412" y="5772150"/>
            <a:ext cx="5120640" cy="314325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FFFFFF"/>
                </a:solidFill>
                <a:latin typeface="Poppins SemiBold"/>
              </a:rPr>
              <a:t>Candidate Roadmap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03" y="5791200"/>
            <a:ext cx="23812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5766" y="5898505"/>
            <a:ext cx="1194206" cy="46166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dirty="0"/>
              <a:t>
</a:t>
            </a:r>
            <a:r>
              <a:rPr sz="1200" b="0" i="0" u="none" dirty="0">
                <a:solidFill>
                  <a:srgbClr val="FFFFFF"/>
                </a:solidFill>
                <a:latin typeface="Lato"/>
              </a:rPr>
              <a:t>Target</a:t>
            </a:r>
            <a:r>
              <a:rPr lang="en-IN" sz="1200" b="0" i="0" u="none" dirty="0">
                <a:solidFill>
                  <a:srgbClr val="FFFFFF"/>
                </a:solidFill>
                <a:latin typeface="Lato"/>
              </a:rPr>
              <a:t> </a:t>
            </a:r>
            <a:r>
              <a:rPr sz="1200" b="0" i="0" u="none" dirty="0">
                <a:solidFill>
                  <a:srgbClr val="FFFFFF"/>
                </a:solidFill>
                <a:latin typeface="Lato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933" y="5890212"/>
            <a:ext cx="1516888" cy="46166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dirty="0"/>
              <a:t>
</a:t>
            </a:r>
            <a:r>
              <a:rPr sz="1200" b="0" i="0" u="none" dirty="0">
                <a:solidFill>
                  <a:srgbClr val="FFFFFF"/>
                </a:solidFill>
                <a:latin typeface="Lato"/>
              </a:rPr>
              <a:t>Analyze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7994" y="5895072"/>
            <a:ext cx="1187679" cy="46166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ctr"/>
            <a:r>
              <a:rPr dirty="0"/>
              <a:t>
</a:t>
            </a:r>
            <a:r>
              <a:rPr sz="1200" b="0" i="0" u="none" dirty="0">
                <a:solidFill>
                  <a:srgbClr val="FFFFFF"/>
                </a:solidFill>
                <a:latin typeface="Lato"/>
              </a:rPr>
              <a:t>Learn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2323" y="5898587"/>
            <a:ext cx="1516888" cy="46166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ctr"/>
            <a:r>
              <a:rPr dirty="0"/>
              <a:t>
</a:t>
            </a:r>
            <a:r>
              <a:rPr sz="1200" b="0" i="0" u="none" dirty="0">
                <a:solidFill>
                  <a:srgbClr val="FFFFFF"/>
                </a:solidFill>
                <a:latin typeface="Lato"/>
              </a:rPr>
              <a:t>Build Projects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8502" y="5884448"/>
            <a:ext cx="1260717" cy="46166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dirty="0"/>
              <a:t>
</a:t>
            </a:r>
            <a:r>
              <a:rPr sz="1200" b="0" i="0" u="none" dirty="0">
                <a:solidFill>
                  <a:srgbClr val="FFFFFF"/>
                </a:solidFill>
                <a:latin typeface="Lato"/>
              </a:rPr>
              <a:t>Grow Career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766" y="6155613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004" y="6179097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7761" y="6121044"/>
            <a:ext cx="311301" cy="249041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6189772"/>
            <a:ext cx="238125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8502" y="6166237"/>
            <a:ext cx="19050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50005C"/>
                </a:solidFill>
                <a:latin typeface="Poppins"/>
              </a:rPr>
              <a:t>Skills Analysis &amp; Recommendations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95995-A109-A4CC-AB4B-3AC9BAF82B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76" y="1009928"/>
            <a:ext cx="10634663" cy="43740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1941611"/>
            <a:ext cx="11601450" cy="78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09"/>
              </a:lnSpc>
            </a:pPr>
            <a:r>
              <a:rPr sz="5400" b="1" i="0" u="none">
                <a:solidFill>
                  <a:srgbClr val="50005C"/>
                </a:solidFill>
                <a:latin typeface="Poppi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0751"/>
            <a:ext cx="76200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5D4368"/>
                </a:solidFill>
                <a:latin typeface="Lato"/>
              </a:rPr>
              <a:t>Analyzing the job market through a data-driven lens enables candidates to make informed career decisions and helps organizations adapt to evolving talent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122</TotalTime>
  <Words>322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Lato</vt:lpstr>
      <vt:lpstr>Neue Haas Grotesk Text Pro</vt:lpstr>
      <vt:lpstr>Poppins</vt:lpstr>
      <vt:lpstr>Poppins SemiBold</vt:lpstr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Pratyusha Shakkarkot</cp:lastModifiedBy>
  <cp:revision>2</cp:revision>
  <dcterms:created xsi:type="dcterms:W3CDTF">2013-01-27T09:14:16Z</dcterms:created>
  <dcterms:modified xsi:type="dcterms:W3CDTF">2026-08-13T13:50:28Z</dcterms:modified>
  <cp:category/>
</cp:coreProperties>
</file>